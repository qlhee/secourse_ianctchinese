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87" r:id="rId7"/>
    <p:sldId id="283" r:id="rId8"/>
    <p:sldId id="267" r:id="rId9"/>
    <p:sldId id="259" r:id="rId10"/>
    <p:sldId id="278" r:id="rId11"/>
    <p:sldId id="276" r:id="rId12"/>
    <p:sldId id="277" r:id="rId13"/>
    <p:sldId id="289" r:id="rId14"/>
    <p:sldId id="290" r:id="rId15"/>
    <p:sldId id="288" r:id="rId16"/>
    <p:sldId id="284" r:id="rId17"/>
    <p:sldId id="263" r:id="rId18"/>
    <p:sldId id="285" r:id="rId19"/>
    <p:sldId id="286" r:id="rId20"/>
    <p:sldId id="291" r:id="rId21"/>
    <p:sldId id="281" r:id="rId22"/>
    <p:sldId id="280" r:id="rId23"/>
    <p:sldId id="274" r:id="rId24"/>
  </p:sldIdLst>
  <p:sldSz cx="12192000" cy="6858000"/>
  <p:notesSz cx="6858000" cy="12192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2.pn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3.pn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hyperlink" Target="&#24494;&#20449;&#35270;&#39057;2025-10-21_202707_327.mp4" TargetMode="External"/><Relationship Id="rId2" Type="http://schemas.openxmlformats.org/officeDocument/2006/relationships/image" Target="../media/image10.png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"/>
            <a:ext cx="12192000" cy="68541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5320" y="4643120"/>
            <a:ext cx="3867150" cy="3332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何其乐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25320" y="5236469"/>
            <a:ext cx="5014595" cy="3332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：2025/10/22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4-11:32:28-d2sggj61bb2p4onbok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05" y="6319520"/>
            <a:ext cx="1450975" cy="2070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42770" y="2072640"/>
            <a:ext cx="5594985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古</a:t>
            </a:r>
            <a:r>
              <a:rPr lang="zh-CN" altLang="en-US" sz="4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汉语智能标注平台项目答辩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860" y="4356735"/>
            <a:ext cx="2536190" cy="1071245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85" y="4183380"/>
            <a:ext cx="1534160" cy="6477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 flipH="1">
            <a:off x="2285365" y="6424295"/>
            <a:ext cx="9350375" cy="0"/>
          </a:xfrm>
          <a:prstGeom prst="line">
            <a:avLst/>
          </a:prstGeom>
          <a:noFill/>
          <a:ln w="16510">
            <a:solidFill>
              <a:srgbClr val="C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4" descr="https://kimi-img.moonshot.cn/pub/slides/slides_tmpl/image/25-09-04-11:32:28-d2sggj61bb2p4onbok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655" y="269875"/>
            <a:ext cx="1450975" cy="20701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4-11:32:28-d2sggj61bb2p4onbok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705" y="1694815"/>
            <a:ext cx="908050" cy="9080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925320" y="4936291"/>
            <a:ext cx="3867150" cy="3332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4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小组成员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何其乐、朱孔峥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8-d2sggj61bb2p4onboku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666365" y="-2670810"/>
            <a:ext cx="6858000" cy="121996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40" y="2794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DCCFB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2540" y="2794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2:29-d2sggje1bb2p4onbokv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52070" y="3173095"/>
            <a:ext cx="12244070" cy="44011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5515" y="650240"/>
            <a:ext cx="2903220" cy="15938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03960" y="1886585"/>
            <a:ext cx="1063625" cy="270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8513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V="1">
            <a:off x="6918325" y="2200275"/>
            <a:ext cx="302895" cy="302895"/>
          </a:xfrm>
          <a:prstGeom prst="line">
            <a:avLst/>
          </a:prstGeom>
          <a:noFill/>
          <a:ln w="19050">
            <a:solidFill>
              <a:srgbClr val="5E423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 flipV="1">
            <a:off x="6918325" y="3006090"/>
            <a:ext cx="302895" cy="302895"/>
          </a:xfrm>
          <a:prstGeom prst="line">
            <a:avLst/>
          </a:prstGeom>
          <a:noFill/>
          <a:ln w="19050">
            <a:solidFill>
              <a:srgbClr val="5E423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 flipV="1">
            <a:off x="6918325" y="3862070"/>
            <a:ext cx="302895" cy="302895"/>
          </a:xfrm>
          <a:prstGeom prst="line">
            <a:avLst/>
          </a:prstGeom>
          <a:noFill/>
          <a:ln w="19050">
            <a:solidFill>
              <a:srgbClr val="5E423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 flipV="1">
            <a:off x="6932295" y="4768215"/>
            <a:ext cx="302895" cy="302895"/>
          </a:xfrm>
          <a:prstGeom prst="line">
            <a:avLst/>
          </a:prstGeom>
          <a:noFill/>
          <a:ln w="19050">
            <a:solidFill>
              <a:srgbClr val="5E423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880" y="5994400"/>
            <a:ext cx="1569720" cy="59372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flipH="1">
            <a:off x="427355" y="6481445"/>
            <a:ext cx="9650095" cy="0"/>
          </a:xfrm>
          <a:prstGeom prst="line">
            <a:avLst/>
          </a:prstGeom>
          <a:noFill/>
          <a:ln w="16510">
            <a:solidFill>
              <a:srgbClr val="C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3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2235835"/>
            <a:ext cx="278765" cy="292735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3079115"/>
            <a:ext cx="278765" cy="292735"/>
          </a:xfrm>
          <a:prstGeom prst="rect">
            <a:avLst/>
          </a:prstGeom>
        </p:spPr>
      </p:pic>
      <p:pic>
        <p:nvPicPr>
          <p:cNvPr id="16" name="Image 5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4765675"/>
            <a:ext cx="278765" cy="292735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3922395"/>
            <a:ext cx="278765" cy="29273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897880" y="2078355"/>
            <a:ext cx="97155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壹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7095490" y="2245995"/>
            <a:ext cx="468439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项目简介与</a:t>
            </a:r>
            <a:r>
              <a:rPr lang="zh-CN" altLang="en-US" sz="16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技术架构</a:t>
            </a:r>
            <a:endParaRPr lang="zh-CN" altLang="en-US" sz="16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897880" y="2910840"/>
            <a:ext cx="97155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贰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7095490" y="3078480"/>
            <a:ext cx="4684395" cy="9328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sz="16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功能介绍</a:t>
            </a:r>
            <a:endParaRPr lang="zh-CN" altLang="en-US" sz="16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5897880" y="3804285"/>
            <a:ext cx="97155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叁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7102475" y="4773930"/>
            <a:ext cx="4684395" cy="10255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16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代码规范与</a:t>
            </a:r>
            <a:r>
              <a:rPr lang="zh-CN" altLang="en-US" sz="16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审查</a:t>
            </a:r>
            <a:endParaRPr lang="zh-CN" altLang="en-US" sz="1600" b="1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894705" y="4641850"/>
            <a:ext cx="97155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肆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7384415" y="4808855"/>
            <a:ext cx="4810760" cy="9251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14"/>
          <p:cNvSpPr/>
          <p:nvPr/>
        </p:nvSpPr>
        <p:spPr>
          <a:xfrm>
            <a:off x="7102475" y="3922309"/>
            <a:ext cx="4684395" cy="10255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sz="16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开发过程</a:t>
            </a:r>
            <a:endParaRPr lang="zh-CN" altLang="en-US" sz="16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endParaRPr lang="zh-CN" altLang="en-US" sz="16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72050" cy="68592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DCCFB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2:28-d2sggj61bb2p4onboku0.jpe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2666365" y="-2670810"/>
            <a:ext cx="6858000" cy="1219962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1:32:29-d2sggje1bb2p4onbokv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070" y="2828925"/>
            <a:ext cx="12244070" cy="440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73365" y="1664335"/>
            <a:ext cx="1180465" cy="8963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5E42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593090" y="6446520"/>
            <a:ext cx="743775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8968740" y="6446520"/>
            <a:ext cx="265049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6865620" y="3195320"/>
            <a:ext cx="497141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项目简介与</a:t>
            </a: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技术架构</a:t>
            </a:r>
            <a:endParaRPr lang="zh-CN" altLang="en-US" sz="28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1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110" y="6354445"/>
            <a:ext cx="372110" cy="21971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0000">
            <a:off x="6750685" y="3161665"/>
            <a:ext cx="349250" cy="366395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09-04-11:32:29-d2sggje1bb2p4onbol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" y="0"/>
            <a:ext cx="4352290" cy="5608320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9-04-11:32:29-d2sggje1bb2p4onbol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85" y="3105150"/>
            <a:ext cx="2583180" cy="1724025"/>
          </a:xfrm>
          <a:prstGeom prst="rect">
            <a:avLst/>
          </a:prstGeom>
        </p:spPr>
      </p:pic>
      <p:pic>
        <p:nvPicPr>
          <p:cNvPr id="15" name="Image 7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270" y="538480"/>
            <a:ext cx="1331595" cy="5035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5-d2sggku1bb2p4onbol8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280" y="0"/>
            <a:ext cx="57607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10800000" flipV="1">
            <a:off x="-5715" y="0"/>
            <a:ext cx="12192635" cy="174752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 rot="10800000">
            <a:off x="0" y="0"/>
            <a:ext cx="12192635" cy="1747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934460" y="2537460"/>
            <a:ext cx="7346950" cy="3523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2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525" y="779145"/>
            <a:ext cx="1569720" cy="593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425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项目简介与</a:t>
            </a:r>
            <a:r>
              <a:rPr lang="zh-CN" altLang="en-US" sz="2800" b="1" dirty="0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技术架构</a:t>
            </a:r>
            <a:endParaRPr lang="zh-CN" altLang="en-US" sz="2800" b="1" dirty="0">
              <a:solidFill>
                <a:srgbClr val="5E4230"/>
              </a:solidFill>
              <a:latin typeface="宋体" charset="0"/>
              <a:ea typeface="宋体" charset="0"/>
              <a:cs typeface="MiSans" pitchFamily="34" charset="-120"/>
            </a:endParaRPr>
          </a:p>
        </p:txBody>
      </p:sp>
      <p:sp>
        <p:nvSpPr>
          <p:cNvPr id="12" name="Shape 6"/>
          <p:cNvSpPr/>
          <p:nvPr/>
        </p:nvSpPr>
        <p:spPr>
          <a:xfrm flipH="1">
            <a:off x="852170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4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25" y="417195"/>
            <a:ext cx="913765" cy="27241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517390" y="4241800"/>
            <a:ext cx="6241415" cy="14770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2170" y="1300480"/>
            <a:ext cx="963231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     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iAnctChinese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是一个前后端分离、客户端集成、以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web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网页为客户端的古汉语智能标注平台。</a:t>
            </a:r>
            <a:endParaRPr lang="zh-CN" altLang="en-US" b="1" dirty="0">
              <a:solidFill>
                <a:srgbClr val="5E4230"/>
              </a:solidFill>
              <a:latin typeface="宋体" charset="0"/>
              <a:ea typeface="宋体" charset="0"/>
              <a:cs typeface="宋体" charset="0"/>
              <a:sym typeface="+mn-ea"/>
            </a:endParaRPr>
          </a:p>
          <a:p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2660" y="1978025"/>
            <a:ext cx="6577965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前端：</a:t>
            </a:r>
            <a:r>
              <a:rPr lang="zh-CN" altLang="en-US" sz="20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基于</a:t>
            </a:r>
            <a:r>
              <a:rPr lang="en-US" sz="200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HTML+CSS+</a:t>
            </a:r>
            <a:r>
              <a:rPr lang="en-US" altLang="zh-CN" sz="200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JavaScript</a:t>
            </a:r>
            <a:r>
              <a:rPr lang="zh-CN" altLang="en-US" sz="200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的网页</a:t>
            </a:r>
            <a:endParaRPr lang="zh-CN" altLang="en-US" sz="200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后端：</a:t>
            </a:r>
            <a:r>
              <a:rPr lang="zh-CN" altLang="en-US" sz="200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三个独立的后端服务</a:t>
            </a:r>
            <a:endParaRPr lang="zh-CN" altLang="en-US" sz="200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  <a:sym typeface="+mn-ea"/>
            </a:endParaRPr>
          </a:p>
          <a:p>
            <a:pPr indent="457200">
              <a:lnSpc>
                <a:spcPct val="130000"/>
              </a:lnSpc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AI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服务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（端口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5004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）：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</a:endParaRPr>
          </a:p>
          <a:p>
            <a:pPr marL="457200" lvl="1" indent="457200">
              <a:lnSpc>
                <a:spcPct val="130000"/>
              </a:lnSpc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采用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Python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及其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Flask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框架，调用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deepseek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平台的大模型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API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实现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AI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自动标注、古文解析、古文答疑服务。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3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分词服务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（端口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5001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）：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</a:endParaRPr>
          </a:p>
          <a:p>
            <a:pPr marL="457200" lvl="1" indent="457200">
              <a:lnSpc>
                <a:spcPct val="130000"/>
              </a:lnSpc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采用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Python+Flask+jieba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实现古文自动分词。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3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用户数据服务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（端口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5002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）：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</a:endParaRPr>
          </a:p>
          <a:p>
            <a:pPr marL="457200" lvl="1" indent="457200">
              <a:lnSpc>
                <a:spcPct val="130000"/>
              </a:lnSpc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采用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Node.js+Express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</a:rPr>
              <a:t>实现用户注册与登录、用户数据隔离、项目管理、文档管理、数据导出功能。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数据库：</a:t>
            </a:r>
            <a:r>
              <a:rPr lang="en-US" altLang="zh-CN" sz="20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json</a:t>
            </a:r>
            <a:r>
              <a:rPr lang="zh-CN" altLang="en-US" sz="20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文件存储。</a:t>
            </a:r>
            <a:endParaRPr lang="zh-CN" altLang="en-US" sz="20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10" name="图片 9" descr="截屏2025-10-21 21.43.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" y="1978025"/>
            <a:ext cx="2362200" cy="3915410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 flipV="1">
            <a:off x="2097405" y="2276475"/>
            <a:ext cx="2730500" cy="2368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394585" y="3850640"/>
            <a:ext cx="2433320" cy="22104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2097405" y="3109595"/>
            <a:ext cx="3114040" cy="20358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2224405" y="4313555"/>
            <a:ext cx="2987040" cy="10687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2289175" y="5067300"/>
            <a:ext cx="2922270" cy="6134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72050" cy="68592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DCCFB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2:28-d2sggj61bb2p4onboku0.jpe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2666365" y="-2670810"/>
            <a:ext cx="6858000" cy="1219962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1:32:29-d2sggje1bb2p4onbokv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070" y="2828925"/>
            <a:ext cx="12244070" cy="440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73365" y="1664335"/>
            <a:ext cx="1180465" cy="922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5E42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593090" y="6446520"/>
            <a:ext cx="743775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8968740" y="6446520"/>
            <a:ext cx="265049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6865620" y="3195320"/>
            <a:ext cx="497141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介绍</a:t>
            </a:r>
            <a:endParaRPr lang="zh-CN" altLang="en-US" sz="28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1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110" y="6354445"/>
            <a:ext cx="372110" cy="21971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0000">
            <a:off x="6750685" y="3161665"/>
            <a:ext cx="349250" cy="366395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09-04-11:32:29-d2sggje1bb2p4onbol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" y="0"/>
            <a:ext cx="4352290" cy="5608320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9-04-11:32:29-d2sggje1bb2p4onbol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85" y="3105150"/>
            <a:ext cx="2583180" cy="1724025"/>
          </a:xfrm>
          <a:prstGeom prst="rect">
            <a:avLst/>
          </a:prstGeom>
        </p:spPr>
      </p:pic>
      <p:pic>
        <p:nvPicPr>
          <p:cNvPr id="15" name="Image 7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270" y="538480"/>
            <a:ext cx="1331595" cy="5035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-10436" y="-635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4530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</a:t>
            </a:r>
            <a:r>
              <a:rPr lang="en-US" altLang="zh-CN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</a:t>
            </a:r>
            <a:r>
              <a:rPr 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实体标注：一键锁定古籍关键信息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 flipH="1">
            <a:off x="80327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6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10845"/>
            <a:ext cx="913765" cy="27241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5145" y="1643684"/>
            <a:ext cx="241173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功能概述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627380" y="4147820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0"/>
          <p:cNvSpPr/>
          <p:nvPr/>
        </p:nvSpPr>
        <p:spPr>
          <a:xfrm>
            <a:off x="235267" y="2008645"/>
            <a:ext cx="3269615" cy="26955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用户上传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古文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后，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可以选择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自动标注古文中的实体，也可根据自己的理解及大模型回答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进行人物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地名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器物</a:t>
            </a:r>
            <a:r>
              <a:rPr 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等实体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标注</a:t>
            </a:r>
            <a:r>
              <a:rPr 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8384540" y="2955290"/>
            <a:ext cx="3300730" cy="26974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9"/>
          <p:cNvSpPr/>
          <p:nvPr/>
        </p:nvSpPr>
        <p:spPr>
          <a:xfrm>
            <a:off x="235267" y="3563536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手动标注：前端选择文本后，通过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addEntityAnnotation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方法添加实体标签（人物、地名、时间、器物、概念），存储到文档的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entityAnnotations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数组中。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自动标注：调用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服务（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/api/auto-annotate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接口），使用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DeepSeek API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进行智能标注，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识别实体后返回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格式的标注结果，自动匹配原文位置并添加到标注列表。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8"/>
          <p:cNvSpPr/>
          <p:nvPr/>
        </p:nvSpPr>
        <p:spPr>
          <a:xfrm>
            <a:off x="504729" y="3140110"/>
            <a:ext cx="24117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121" y="1361151"/>
            <a:ext cx="8491152" cy="47240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28934" y="-185936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4530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</a:t>
            </a:r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导入导出：多格式零门槛对接</a:t>
            </a:r>
            <a:endParaRPr lang="en-US" altLang="zh-CN" sz="1600" dirty="0"/>
          </a:p>
        </p:txBody>
      </p:sp>
      <p:sp>
        <p:nvSpPr>
          <p:cNvPr id="13" name="Shape 5"/>
          <p:cNvSpPr/>
          <p:nvPr/>
        </p:nvSpPr>
        <p:spPr>
          <a:xfrm flipH="1">
            <a:off x="80327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6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10845"/>
            <a:ext cx="913765" cy="27241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5145" y="1560059"/>
            <a:ext cx="241173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功能概述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268383" y="3583424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导入：通过拖拽或选择文件，使用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FileReader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读取文本内容后创建为新文档，保存到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localStorage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或云端。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导出：用户勾选文档后，调用后端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/api/export-documents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接口，服务器将文档原文及实体标注分别导出为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txt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csv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格式，保存到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exported data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文件夹。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235267" y="1895905"/>
            <a:ext cx="3269615" cy="1448759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平台支持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手工上传、</a:t>
            </a: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txt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md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docx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</a:t>
            </a: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上传，自动识别编码并去噪；标注完成后可一键导出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修改后的</a:t>
            </a: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原文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信息（</a:t>
            </a:r>
            <a:r>
              <a:rPr lang="en-US" altLang="zh-CN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txt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）与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实体标注信息（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csv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8"/>
          <p:cNvSpPr/>
          <p:nvPr/>
        </p:nvSpPr>
        <p:spPr>
          <a:xfrm>
            <a:off x="537845" y="3159998"/>
            <a:ext cx="24117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endParaRPr lang="en-US" sz="1600" dirty="0"/>
          </a:p>
        </p:txBody>
      </p:sp>
      <p:sp>
        <p:nvSpPr>
          <p:cNvPr id="6" name="Text 10"/>
          <p:cNvSpPr/>
          <p:nvPr/>
        </p:nvSpPr>
        <p:spPr>
          <a:xfrm>
            <a:off x="218577" y="3645964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endParaRPr lang="en-US" altLang="zh-CN" sz="1600" dirty="0"/>
          </a:p>
        </p:txBody>
      </p:sp>
      <p:pic>
        <p:nvPicPr>
          <p:cNvPr id="15" name="图片 14" descr="图形用户界面, 应用程序, PowerPoint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091" y="3230366"/>
            <a:ext cx="4141531" cy="3159518"/>
          </a:xfrm>
          <a:prstGeom prst="rect">
            <a:avLst/>
          </a:prstGeom>
        </p:spPr>
      </p:pic>
      <p:pic>
        <p:nvPicPr>
          <p:cNvPr id="21" name="图片 20" descr="表格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25" y="1417955"/>
            <a:ext cx="3935730" cy="347218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099" y="207765"/>
            <a:ext cx="4283184" cy="296592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-10436" y="-635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4530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古文解析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与答疑</a:t>
            </a:r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调用</a:t>
            </a:r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</a:t>
            </a: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回答问题</a:t>
            </a:r>
            <a:endParaRPr lang="en-US" altLang="zh-CN" sz="1600" dirty="0"/>
          </a:p>
        </p:txBody>
      </p:sp>
      <p:sp>
        <p:nvSpPr>
          <p:cNvPr id="13" name="Shape 5"/>
          <p:cNvSpPr/>
          <p:nvPr/>
        </p:nvSpPr>
        <p:spPr>
          <a:xfrm flipH="1">
            <a:off x="80327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6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10845"/>
            <a:ext cx="913765" cy="27241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5145" y="1560059"/>
            <a:ext cx="241173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功能概述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229013" y="3768725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前端调用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后端的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/api/analyze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/api/qa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接口，后端使用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requests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库向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DeepSeek API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请求，传入预设的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模板（包含古文和问题），获取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响应后返回给前端展示。使用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Key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认证，设置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temperature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max_tokens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等参数控制生成质量。</a:t>
            </a:r>
            <a:r>
              <a:rPr lang="zh-CN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zh-CN" altLang="zh-CN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endParaRPr lang="zh-CN" altLang="en-US" dirty="0"/>
          </a:p>
        </p:txBody>
      </p:sp>
      <p:sp>
        <p:nvSpPr>
          <p:cNvPr id="19" name="Text 10"/>
          <p:cNvSpPr/>
          <p:nvPr/>
        </p:nvSpPr>
        <p:spPr>
          <a:xfrm>
            <a:off x="235267" y="1895905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通过调用官方平台的大模型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解析古文内容，用户也可以提出问题，基于这篇古文得到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答复。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8384540" y="2955290"/>
            <a:ext cx="3300730" cy="26974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8"/>
          <p:cNvSpPr/>
          <p:nvPr/>
        </p:nvSpPr>
        <p:spPr>
          <a:xfrm>
            <a:off x="498475" y="3345299"/>
            <a:ext cx="24117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endParaRPr lang="en-US" sz="1600" dirty="0"/>
          </a:p>
        </p:txBody>
      </p:sp>
      <p:sp>
        <p:nvSpPr>
          <p:cNvPr id="6" name="Text 10"/>
          <p:cNvSpPr/>
          <p:nvPr/>
        </p:nvSpPr>
        <p:spPr>
          <a:xfrm>
            <a:off x="218577" y="3645964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endParaRPr lang="en-US" altLang="zh-CN" sz="1600" dirty="0"/>
          </a:p>
        </p:txBody>
      </p:sp>
      <p:pic>
        <p:nvPicPr>
          <p:cNvPr id="29" name="图片 28" descr="图形用户界面, 文本, 应用程序, 聊天或短信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503" y="1978865"/>
            <a:ext cx="2563962" cy="2482307"/>
          </a:xfrm>
          <a:prstGeom prst="rect">
            <a:avLst/>
          </a:prstGeom>
        </p:spPr>
      </p:pic>
      <p:pic>
        <p:nvPicPr>
          <p:cNvPr id="10" name="图片 9" descr="截屏2025-10-21 23.39.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25" y="1209040"/>
            <a:ext cx="5455920" cy="51904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-10436" y="-635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4530" y="734060"/>
            <a:ext cx="1111631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智能分词：面向古今混合文本切分</a:t>
            </a:r>
            <a:endParaRPr lang="en-US" altLang="zh-CN" sz="1600" dirty="0"/>
          </a:p>
        </p:txBody>
      </p:sp>
      <p:sp>
        <p:nvSpPr>
          <p:cNvPr id="13" name="Shape 5"/>
          <p:cNvSpPr/>
          <p:nvPr/>
        </p:nvSpPr>
        <p:spPr>
          <a:xfrm flipH="1">
            <a:off x="80327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6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10845"/>
            <a:ext cx="913765" cy="27241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5145" y="1560059"/>
            <a:ext cx="241173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功能概述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229013" y="3768725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创建后端服务（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5001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端口），接收文本后调用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jieba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库的精确模式分词（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jieba.cut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），逐个匹配计算每个词在原文中的起止位置，返回包含词文本、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数组给前端展示。</a:t>
            </a:r>
            <a:endParaRPr lang="zh-CN" altLang="en-US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endParaRPr lang="zh-CN" altLang="en-US" dirty="0"/>
          </a:p>
        </p:txBody>
      </p:sp>
      <p:sp>
        <p:nvSpPr>
          <p:cNvPr id="19" name="Text 10"/>
          <p:cNvSpPr/>
          <p:nvPr/>
        </p:nvSpPr>
        <p:spPr>
          <a:xfrm>
            <a:off x="235267" y="1895905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对古文进行自动分词，方便用户进行实体标注。分词结果可保存到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原文。</a:t>
            </a:r>
            <a:endParaRPr lang="zh-CN" altLang="en-US" sz="1400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8384540" y="2955290"/>
            <a:ext cx="3300730" cy="26974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8"/>
          <p:cNvSpPr/>
          <p:nvPr/>
        </p:nvSpPr>
        <p:spPr>
          <a:xfrm>
            <a:off x="498475" y="3345299"/>
            <a:ext cx="24117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endParaRPr lang="en-US" sz="1600" dirty="0"/>
          </a:p>
        </p:txBody>
      </p:sp>
      <p:sp>
        <p:nvSpPr>
          <p:cNvPr id="6" name="Text 10"/>
          <p:cNvSpPr/>
          <p:nvPr/>
        </p:nvSpPr>
        <p:spPr>
          <a:xfrm>
            <a:off x="218577" y="3645964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endParaRPr lang="en-US" altLang="zh-CN" sz="1600" dirty="0"/>
          </a:p>
        </p:txBody>
      </p:sp>
      <p:pic>
        <p:nvPicPr>
          <p:cNvPr id="10" name="图片 9" descr="截屏2025-10-21 23.48.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60" y="1216660"/>
            <a:ext cx="4632325" cy="51377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-10436" y="-635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4530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用户数据管理</a:t>
            </a:r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实现注册登录与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用户数据隔离</a:t>
            </a:r>
            <a:endParaRPr lang="zh-CN" altLang="en-US" sz="2800" b="1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5"/>
          <p:cNvSpPr/>
          <p:nvPr/>
        </p:nvSpPr>
        <p:spPr>
          <a:xfrm flipH="1">
            <a:off x="80327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6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10845"/>
            <a:ext cx="913765" cy="27241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5145" y="1560059"/>
            <a:ext cx="241173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功能概述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229013" y="3768725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后端（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5002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端口）提供注册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，用户信息存储在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data.json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文件，登录后将用户信息存入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localStorage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。所有项目、文档都关联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userId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，后端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查询时通过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userId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过滤数据，前端加载时也按</a:t>
            </a:r>
            <a:r>
              <a:rPr lang="en-US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userId</a:t>
            </a:r>
            <a:r>
              <a:rPr lang="zh-CN" altLang="en-US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过滤，确保用户只能访问自己的数据。</a:t>
            </a:r>
            <a:r>
              <a:rPr lang="zh-CN" altLang="zh-CN" sz="1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zh-CN" altLang="zh-CN" sz="1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endParaRPr lang="zh-CN" altLang="en-US" dirty="0"/>
          </a:p>
        </p:txBody>
      </p:sp>
      <p:sp>
        <p:nvSpPr>
          <p:cNvPr id="19" name="Text 10"/>
          <p:cNvSpPr/>
          <p:nvPr/>
        </p:nvSpPr>
        <p:spPr>
          <a:xfrm>
            <a:off x="235267" y="1895905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实现用户注册、登录、修改信息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等功能，每个用户的数据独属于自己。所有数据保存到</a:t>
            </a:r>
            <a:r>
              <a:rPr lang="zh-CN" altLang="en-US" sz="1400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数据库。</a:t>
            </a:r>
            <a:endParaRPr lang="zh-CN" altLang="en-US" sz="1400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8384540" y="2955290"/>
            <a:ext cx="3300730" cy="26974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8"/>
          <p:cNvSpPr/>
          <p:nvPr/>
        </p:nvSpPr>
        <p:spPr>
          <a:xfrm>
            <a:off x="498475" y="3345299"/>
            <a:ext cx="24117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1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endParaRPr lang="en-US" sz="1600" dirty="0"/>
          </a:p>
        </p:txBody>
      </p:sp>
      <p:sp>
        <p:nvSpPr>
          <p:cNvPr id="6" name="Text 10"/>
          <p:cNvSpPr/>
          <p:nvPr/>
        </p:nvSpPr>
        <p:spPr>
          <a:xfrm>
            <a:off x="218577" y="3645964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endParaRPr lang="en-US" altLang="zh-CN" sz="1600" dirty="0"/>
          </a:p>
        </p:txBody>
      </p:sp>
      <p:pic>
        <p:nvPicPr>
          <p:cNvPr id="10" name="图片 9" descr="截屏2025-10-21 23.49.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765" y="1657985"/>
            <a:ext cx="4069080" cy="4088130"/>
          </a:xfrm>
          <a:prstGeom prst="rect">
            <a:avLst/>
          </a:prstGeom>
        </p:spPr>
      </p:pic>
      <p:pic>
        <p:nvPicPr>
          <p:cNvPr id="15" name="图片 14" descr="截屏2025-10-21 23.50.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570" y="1657985"/>
            <a:ext cx="4310380" cy="40652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-10436" y="-635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4530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三语翻译</a:t>
            </a:r>
            <a:r>
              <a:rPr lang="en-US" altLang="zh-CN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简体中文、繁体中文、英文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全部适配</a:t>
            </a:r>
            <a:endParaRPr lang="zh-CN" altLang="en-US" sz="2800" b="1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5"/>
          <p:cNvSpPr/>
          <p:nvPr/>
        </p:nvSpPr>
        <p:spPr>
          <a:xfrm flipH="1">
            <a:off x="80327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6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10845"/>
            <a:ext cx="913765" cy="272415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229013" y="3768725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10"/>
          <p:cNvSpPr/>
          <p:nvPr/>
        </p:nvSpPr>
        <p:spPr>
          <a:xfrm>
            <a:off x="235267" y="1895905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endParaRPr lang="zh-CN" altLang="en-US" sz="1400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8384540" y="2955290"/>
            <a:ext cx="3300730" cy="26974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10"/>
          <p:cNvSpPr/>
          <p:nvPr/>
        </p:nvSpPr>
        <p:spPr>
          <a:xfrm>
            <a:off x="218577" y="3645964"/>
            <a:ext cx="3269615" cy="131613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30000"/>
              </a:lnSpc>
            </a:pPr>
            <a:endParaRPr lang="en-US" altLang="zh-CN" sz="1600" dirty="0"/>
          </a:p>
        </p:txBody>
      </p:sp>
      <p:sp>
        <p:nvSpPr>
          <p:cNvPr id="10" name="Text 4"/>
          <p:cNvSpPr/>
          <p:nvPr/>
        </p:nvSpPr>
        <p:spPr>
          <a:xfrm>
            <a:off x="1576070" y="4044950"/>
            <a:ext cx="922591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文件与项目管理系统、搜索框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endParaRPr lang="zh-CN" altLang="en-US" sz="2800" b="1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1" name="图片 10" descr="截屏2025-10-21 23.55.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" y="4723765"/>
            <a:ext cx="4801870" cy="1511300"/>
          </a:xfrm>
          <a:prstGeom prst="rect">
            <a:avLst/>
          </a:prstGeom>
        </p:spPr>
      </p:pic>
      <p:pic>
        <p:nvPicPr>
          <p:cNvPr id="15" name="图片 14" descr="截屏2025-10-21 23.56.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955" y="4723765"/>
            <a:ext cx="5701030" cy="1495425"/>
          </a:xfrm>
          <a:prstGeom prst="rect">
            <a:avLst/>
          </a:prstGeom>
        </p:spPr>
      </p:pic>
      <p:pic>
        <p:nvPicPr>
          <p:cNvPr id="16" name="图片 15" descr="截屏2025-10-21 23.52.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835" y="2673350"/>
            <a:ext cx="1541145" cy="1706245"/>
          </a:xfrm>
          <a:prstGeom prst="rect">
            <a:avLst/>
          </a:prstGeom>
        </p:spPr>
      </p:pic>
      <p:pic>
        <p:nvPicPr>
          <p:cNvPr id="20" name="图片 19" descr="截屏2025-10-21 23.52.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835" y="942975"/>
            <a:ext cx="1541145" cy="1654175"/>
          </a:xfrm>
          <a:prstGeom prst="rect">
            <a:avLst/>
          </a:prstGeom>
        </p:spPr>
      </p:pic>
      <p:pic>
        <p:nvPicPr>
          <p:cNvPr id="21" name="图片 20" descr="截屏2025-10-21 23.52.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50" y="1256030"/>
            <a:ext cx="3656965" cy="2697480"/>
          </a:xfrm>
          <a:prstGeom prst="rect">
            <a:avLst/>
          </a:prstGeom>
        </p:spPr>
      </p:pic>
      <p:pic>
        <p:nvPicPr>
          <p:cNvPr id="22" name="图片 21" descr="截屏2025-10-21 23.53.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9875" y="1256030"/>
            <a:ext cx="4191000" cy="21158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72050" cy="68592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DCCFB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2:28-d2sggj61bb2p4onboku0.jpe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2666365" y="-2670810"/>
            <a:ext cx="6858000" cy="1219962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1:32:29-d2sggje1bb2p4onbokv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070" y="2828925"/>
            <a:ext cx="12244070" cy="440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73365" y="1664335"/>
            <a:ext cx="1180465" cy="922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5E42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593090" y="6446520"/>
            <a:ext cx="743775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8968740" y="6446520"/>
            <a:ext cx="265049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6865620" y="3195320"/>
            <a:ext cx="497141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开发过程</a:t>
            </a:r>
            <a:endParaRPr lang="zh-CN" altLang="en-US" sz="28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1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110" y="6354445"/>
            <a:ext cx="372110" cy="21971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0000">
            <a:off x="6750685" y="3161665"/>
            <a:ext cx="349250" cy="366395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09-04-11:32:29-d2sggje1bb2p4onbol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" y="0"/>
            <a:ext cx="4352290" cy="5608320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9-04-11:32:29-d2sggje1bb2p4onbol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85" y="3105150"/>
            <a:ext cx="2583180" cy="1724025"/>
          </a:xfrm>
          <a:prstGeom prst="rect">
            <a:avLst/>
          </a:prstGeom>
        </p:spPr>
      </p:pic>
      <p:pic>
        <p:nvPicPr>
          <p:cNvPr id="15" name="Image 7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270" y="538480"/>
            <a:ext cx="1331595" cy="5035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0" y="1617980"/>
            <a:ext cx="12192635" cy="5168265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 rot="10800000">
            <a:off x="0" y="1617980"/>
            <a:ext cx="12192635" cy="51682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4380" y="734060"/>
            <a:ext cx="111163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 err="1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开发过程</a:t>
            </a:r>
            <a:r>
              <a:rPr lang="en-US" sz="2800" b="1" dirty="0" err="1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：</a:t>
            </a:r>
            <a:r>
              <a:rPr lang="zh-CN" altLang="en-US" sz="2800" b="1" dirty="0" err="1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从个人项目到结对项目</a:t>
            </a:r>
            <a:endParaRPr lang="zh-CN" altLang="en-US" sz="2800" b="1" dirty="0" err="1">
              <a:solidFill>
                <a:srgbClr val="5E4230"/>
              </a:solidFill>
              <a:latin typeface="宋体" charset="0"/>
              <a:ea typeface="宋体" charset="0"/>
              <a:cs typeface="MiSans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 flipH="1">
            <a:off x="873125" y="715010"/>
            <a:ext cx="213360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2" descr="https://kimi-img.moonshot.cn/pub/slides/slides_tmpl/image/25-09-04-11:32:29-d2sggje1bb2p4onbol1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410845"/>
            <a:ext cx="913765" cy="27241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410" y="1735775"/>
            <a:ext cx="1434879" cy="8089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831850" y="2807970"/>
            <a:ext cx="4936490" cy="14890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0"/>
          <p:cNvSpPr/>
          <p:nvPr/>
        </p:nvSpPr>
        <p:spPr>
          <a:xfrm>
            <a:off x="351762" y="2267631"/>
            <a:ext cx="2395054" cy="1021506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6415405" y="2807970"/>
            <a:ext cx="4936490" cy="14890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 descr="SE02个人项目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3526790"/>
            <a:ext cx="9601200" cy="24098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1850" y="1658620"/>
            <a:ext cx="73634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31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项目采用本地部署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qwen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大模型实现，为了降低代码复杂度、简化初次运行流程，减少性能要求，我们将其改为</a:t>
            </a:r>
            <a:r>
              <a:rPr lang="zh-CN" altLang="en-US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调用</a:t>
            </a:r>
            <a:r>
              <a:rPr lang="en-US" altLang="zh-CN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deepseek</a:t>
            </a:r>
            <a:r>
              <a:rPr lang="zh-CN" altLang="en-US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平台的大模型</a:t>
            </a:r>
            <a:r>
              <a:rPr lang="en-US" altLang="zh-CN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API </a:t>
            </a:r>
            <a:r>
              <a:rPr lang="zh-CN" altLang="en-US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实现，新增</a:t>
            </a:r>
            <a:r>
              <a:rPr lang="en-US" altLang="zh-CN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AI</a:t>
            </a:r>
            <a:r>
              <a:rPr lang="zh-CN" altLang="en-US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自动标注和古文答疑功能。</a:t>
            </a:r>
            <a:endParaRPr lang="zh-CN" altLang="en-US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32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采用部分前端布局并加以修改，</a:t>
            </a:r>
            <a:r>
              <a:rPr lang="zh-CN" altLang="en-US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宋体" charset="0"/>
                <a:ea typeface="宋体" charset="0"/>
                <a:cs typeface="宋体" charset="0"/>
                <a:sym typeface="+mn-ea"/>
              </a:rPr>
              <a:t>新增数据导出、三语翻译等功能。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33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采用自动分词服务和部分前端。</a:t>
            </a:r>
            <a:endParaRPr lang="en-US" altLang="zh-CN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34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没有人做，我们采用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node.js+Express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实现用户数据服务。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zh-CN" altLang="en-US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宋体" charset="0"/>
              <a:ea typeface="宋体" charset="0"/>
              <a:cs typeface="宋体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64575" y="2458085"/>
            <a:ext cx="3143250" cy="2706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新增部分：用户服务与数据管理、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自动标注、古文答疑、数据导出、三语翻译。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72050" cy="68592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DCCFB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2:28-d2sggj61bb2p4onboku0.jpe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2666365" y="-2670810"/>
            <a:ext cx="6858000" cy="1219962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1:32:29-d2sggje1bb2p4onbokv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070" y="2828925"/>
            <a:ext cx="12244070" cy="440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73365" y="1664335"/>
            <a:ext cx="1180465" cy="922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5E42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593090" y="6446520"/>
            <a:ext cx="743775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8968740" y="6446520"/>
            <a:ext cx="265049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6865620" y="3195320"/>
            <a:ext cx="497141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代码规范与</a:t>
            </a:r>
            <a:r>
              <a:rPr lang="zh-CN" altLang="en-US" sz="2800" b="1" dirty="0" err="1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审查</a:t>
            </a:r>
            <a:endParaRPr lang="zh-CN" altLang="en-US" sz="2800" b="1" dirty="0" err="1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1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110" y="6354445"/>
            <a:ext cx="372110" cy="21971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0000">
            <a:off x="6750685" y="3161665"/>
            <a:ext cx="349250" cy="366395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09-04-11:32:29-d2sggje1bb2p4onbol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" y="0"/>
            <a:ext cx="4352290" cy="5608320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9-04-11:32:29-d2sggje1bb2p4onbol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85" y="3105150"/>
            <a:ext cx="2583180" cy="1724025"/>
          </a:xfrm>
          <a:prstGeom prst="rect">
            <a:avLst/>
          </a:prstGeom>
        </p:spPr>
      </p:pic>
      <p:pic>
        <p:nvPicPr>
          <p:cNvPr id="15" name="Image 7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270" y="538480"/>
            <a:ext cx="1331595" cy="5035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5715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3869" y="567689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3869" y="2639304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03869" y="4690624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961255"/>
            <a:ext cx="2536190" cy="171831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4787900"/>
            <a:ext cx="1534160" cy="10394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275" y="687705"/>
            <a:ext cx="5989568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代码规范与审查</a:t>
            </a:r>
            <a:endParaRPr lang="zh-CN" altLang="en-US" sz="2800" b="1" dirty="0">
              <a:solidFill>
                <a:srgbClr val="5E4230"/>
              </a:solidFill>
              <a:latin typeface="宋体" charset="0"/>
              <a:ea typeface="宋体" charset="0"/>
              <a:cs typeface="MiSans" pitchFamily="34" charset="-120"/>
            </a:endParaRPr>
          </a:p>
        </p:txBody>
      </p:sp>
      <p:pic>
        <p:nvPicPr>
          <p:cNvPr id="12" name="Image 3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0000">
            <a:off x="598170" y="526415"/>
            <a:ext cx="439420" cy="46037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288280" y="1056640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1"/>
          <p:cNvSpPr/>
          <p:nvPr/>
        </p:nvSpPr>
        <p:spPr>
          <a:xfrm>
            <a:off x="817880" y="2013078"/>
            <a:ext cx="2536191" cy="276974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5288280" y="3109595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0"/>
          <p:cNvSpPr/>
          <p:nvPr/>
        </p:nvSpPr>
        <p:spPr>
          <a:xfrm>
            <a:off x="5288280" y="5157470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 descr="截屏2025-10-21 21.43.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2719705"/>
            <a:ext cx="2362200" cy="39154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2270" y="1285240"/>
            <a:ext cx="409829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1.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项目结构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清晰</a:t>
            </a:r>
            <a:endParaRPr lang="zh-CN" altLang="en-US" sz="2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client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前端、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server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后端、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database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数据库、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exported data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用户导出的数据、项目简介和使用教程两个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md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文件。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7" name="图片 6" descr="截屏2025-10-21 22.50.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595" y="1366520"/>
            <a:ext cx="4329430" cy="2081530"/>
          </a:xfrm>
          <a:prstGeom prst="rect">
            <a:avLst/>
          </a:prstGeom>
        </p:spPr>
      </p:pic>
      <p:pic>
        <p:nvPicPr>
          <p:cNvPr id="13" name="图片 12" descr="截屏2025-10-21 22.50.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795" y="2719705"/>
            <a:ext cx="4247515" cy="1459230"/>
          </a:xfrm>
          <a:prstGeom prst="rect">
            <a:avLst/>
          </a:prstGeom>
        </p:spPr>
      </p:pic>
      <p:pic>
        <p:nvPicPr>
          <p:cNvPr id="14" name="图片 13" descr="截屏2025-10-21 22.50.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8580" y="4363720"/>
            <a:ext cx="3808730" cy="1317625"/>
          </a:xfrm>
          <a:prstGeom prst="rect">
            <a:avLst/>
          </a:prstGeom>
        </p:spPr>
      </p:pic>
      <p:pic>
        <p:nvPicPr>
          <p:cNvPr id="15" name="图片 14" descr="截屏2025-10-21 22.50.5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680" y="4189095"/>
            <a:ext cx="3462020" cy="15036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633595" y="455295"/>
            <a:ext cx="67811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2.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命名规范</a:t>
            </a:r>
            <a:endParaRPr lang="zh-CN" altLang="en-US" sz="2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采用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Google Style Guide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命名类、函数、常量、变量等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5715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3869" y="567689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3869" y="2639304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03869" y="4690624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961255"/>
            <a:ext cx="2536190" cy="171831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4787900"/>
            <a:ext cx="1534160" cy="10394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275" y="687705"/>
            <a:ext cx="5989568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代码规范与审查</a:t>
            </a:r>
            <a:endParaRPr lang="zh-CN" altLang="en-US" sz="2800" b="1" dirty="0">
              <a:solidFill>
                <a:srgbClr val="5E4230"/>
              </a:solidFill>
              <a:latin typeface="宋体" charset="0"/>
              <a:ea typeface="宋体" charset="0"/>
              <a:cs typeface="MiSans" pitchFamily="34" charset="-120"/>
            </a:endParaRPr>
          </a:p>
        </p:txBody>
      </p:sp>
      <p:pic>
        <p:nvPicPr>
          <p:cNvPr id="12" name="Image 3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0000">
            <a:off x="598170" y="526415"/>
            <a:ext cx="439420" cy="46037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288280" y="1056640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1"/>
          <p:cNvSpPr/>
          <p:nvPr/>
        </p:nvSpPr>
        <p:spPr>
          <a:xfrm>
            <a:off x="817880" y="2013078"/>
            <a:ext cx="2536191" cy="276974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5288280" y="3109595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0"/>
          <p:cNvSpPr/>
          <p:nvPr/>
        </p:nvSpPr>
        <p:spPr>
          <a:xfrm>
            <a:off x="5288280" y="5157470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69790" y="567690"/>
            <a:ext cx="409829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4.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异常处理</a:t>
            </a:r>
            <a:endParaRPr lang="zh-CN" altLang="en-US" sz="2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有全局错误捕获机制、完善的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 try-catch-finally 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结构、多层次输入验证、事件回调中的错误处理等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异常处理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6710" y="1270635"/>
            <a:ext cx="3449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3.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代码可读性</a:t>
            </a:r>
            <a:endParaRPr lang="zh-CN" altLang="en-US" sz="2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注释清晰、每个函数只做一件事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分格注释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等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17" name="图片 16" descr="截屏2025-10-21 23.08.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266950"/>
            <a:ext cx="3129280" cy="1311275"/>
          </a:xfrm>
          <a:prstGeom prst="rect">
            <a:avLst/>
          </a:prstGeom>
        </p:spPr>
      </p:pic>
      <p:pic>
        <p:nvPicPr>
          <p:cNvPr id="18" name="图片 17" descr="截屏2025-10-21 23.08.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5" y="3682365"/>
            <a:ext cx="3507740" cy="1461135"/>
          </a:xfrm>
          <a:prstGeom prst="rect">
            <a:avLst/>
          </a:prstGeom>
        </p:spPr>
      </p:pic>
      <p:pic>
        <p:nvPicPr>
          <p:cNvPr id="19" name="图片 18" descr="截屏2025-10-21 23.08.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70" y="5253355"/>
            <a:ext cx="3582035" cy="1513840"/>
          </a:xfrm>
          <a:prstGeom prst="rect">
            <a:avLst/>
          </a:prstGeom>
        </p:spPr>
      </p:pic>
      <p:pic>
        <p:nvPicPr>
          <p:cNvPr id="22" name="图片 21" descr="截屏2025-10-21 23.09.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070" y="1883410"/>
            <a:ext cx="3642360" cy="1394460"/>
          </a:xfrm>
          <a:prstGeom prst="rect">
            <a:avLst/>
          </a:prstGeom>
        </p:spPr>
      </p:pic>
      <p:pic>
        <p:nvPicPr>
          <p:cNvPr id="23" name="图片 22" descr="截屏2025-10-21 23.09.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1045" y="1859280"/>
            <a:ext cx="3581400" cy="2385695"/>
          </a:xfrm>
          <a:prstGeom prst="rect">
            <a:avLst/>
          </a:prstGeom>
        </p:spPr>
      </p:pic>
      <p:pic>
        <p:nvPicPr>
          <p:cNvPr id="24" name="图片 23" descr="截屏2025-10-21 23.10.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4080" y="3683000"/>
            <a:ext cx="3449320" cy="1884045"/>
          </a:xfrm>
          <a:prstGeom prst="rect">
            <a:avLst/>
          </a:prstGeom>
        </p:spPr>
      </p:pic>
      <p:pic>
        <p:nvPicPr>
          <p:cNvPr id="26" name="图片 25" descr="截屏2025-10-21 23.10.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065" y="4380865"/>
            <a:ext cx="3675380" cy="15278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5715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3869" y="567689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3869" y="2639304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03869" y="4690624"/>
            <a:ext cx="7724611" cy="1655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961255"/>
            <a:ext cx="2536190" cy="171831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1:32:28-d2sggj61bb2p4onbok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4787900"/>
            <a:ext cx="1534160" cy="10394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275" y="687705"/>
            <a:ext cx="5989568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代码规范与审查：</a:t>
            </a:r>
            <a:r>
              <a:rPr lang="en-US" altLang="zh-CN" sz="3200" b="1" dirty="0">
                <a:solidFill>
                  <a:srgbClr val="5E4230"/>
                </a:solidFill>
                <a:latin typeface="宋体" charset="0"/>
                <a:ea typeface="宋体" charset="0"/>
                <a:cs typeface="MiSans" pitchFamily="34" charset="-120"/>
              </a:rPr>
              <a:t>5.checklist</a:t>
            </a:r>
            <a:endParaRPr lang="en-US" altLang="zh-CN" sz="3200" b="1" dirty="0">
              <a:solidFill>
                <a:srgbClr val="5E4230"/>
              </a:solidFill>
              <a:latin typeface="宋体" charset="0"/>
              <a:ea typeface="宋体" charset="0"/>
              <a:cs typeface="MiSans" pitchFamily="34" charset="-120"/>
            </a:endParaRPr>
          </a:p>
        </p:txBody>
      </p:sp>
      <p:pic>
        <p:nvPicPr>
          <p:cNvPr id="12" name="Image 3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0000">
            <a:off x="598170" y="526415"/>
            <a:ext cx="439420" cy="46037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288280" y="1056640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1"/>
          <p:cNvSpPr/>
          <p:nvPr/>
        </p:nvSpPr>
        <p:spPr>
          <a:xfrm>
            <a:off x="817880" y="2013078"/>
            <a:ext cx="2536191" cy="2769741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5288280" y="3109595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0"/>
          <p:cNvSpPr/>
          <p:nvPr/>
        </p:nvSpPr>
        <p:spPr>
          <a:xfrm>
            <a:off x="5288280" y="5157470"/>
            <a:ext cx="5823585" cy="1158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09700" y="1337310"/>
            <a:ext cx="436435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一、环境配置（略）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Python 3.7+ 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、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Node.js 14+ 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、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服务依赖、分词服务依赖、用户服务依赖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en-US" altLang="zh-CN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二、服务启动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服务运行正常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 (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端口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5004)</a:t>
            </a:r>
            <a:endParaRPr lang="en-US" altLang="zh-CN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分词服务运行正常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 (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端口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5001)</a:t>
            </a:r>
            <a:endParaRPr lang="en-US" altLang="zh-CN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用户服务运行正常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 (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端口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5002)</a:t>
            </a:r>
            <a:endParaRPr lang="en-US" altLang="zh-CN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前端页面可正常打开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: client/index.html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三、用户功能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用户注册功能正常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用户登录功能正常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用户信息修改功能正常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登出功能正常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四、项目管理（增删改查）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创建项目功能正常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编辑项目功能正常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删除项目功能正常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搜索项目功能正常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72200" y="1057910"/>
            <a:ext cx="5610225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五、文档管理（增删改查、导入导出）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创建文档功能正常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导入文档功能正常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(txt/md/doc/docx)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编辑文档功能正常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保存文档功能正常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(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含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Ctrl/Cmd+S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快捷键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)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删除文档功能正常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导出文档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与标注功能正常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六、核心功能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手动实体标注：选中文本、选择标签、添加标注、删除标注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  <a:sym typeface="+mn-ea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自动实体标注：点击自动实体标注，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得到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</a:rPr>
              <a:t>标注结果</a:t>
            </a:r>
            <a:endParaRPr lang="zh-CN" altLang="en-US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古文解析：点击解析按钮、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AI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返回解析结果、能选择大模型</a:t>
            </a:r>
            <a:endParaRPr lang="zh-CN" altLang="en-US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古文答疑：输入问题、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AI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返回答案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、能选择大模型、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显示历史记录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自动分词：点击分词按钮、显示分词结果、复制分词结果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  <a:sym typeface="+mn-ea"/>
            </a:endParaRPr>
          </a:p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七、数据持久化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用户数据正确保存到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database/data.json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项目和文档数据正确保存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实体标注数据正确保存</a:t>
            </a:r>
            <a:endParaRPr lang="zh-CN" altLang="en-US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导出文件正确生成到</a:t>
            </a:r>
            <a:r>
              <a:rPr lang="en-US" altLang="zh-CN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exported data</a:t>
            </a:r>
            <a:r>
              <a:rPr lang="zh-CN" altLang="en-US" sz="1400">
                <a:solidFill>
                  <a:srgbClr val="FF0000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目录</a:t>
            </a:r>
            <a:endParaRPr lang="zh-CN" altLang="en-US" sz="1400">
              <a:solidFill>
                <a:srgbClr val="FF0000"/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不同用户数据互相隔离</a:t>
            </a:r>
            <a:endParaRPr lang="zh-CN" altLang="en-US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en-US" altLang="zh-CN" sz="1400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八、界面交互（略）</a:t>
            </a:r>
            <a:endParaRPr lang="en-US" altLang="zh-CN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endParaRPr lang="en-US" altLang="zh-CN" b="1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53735" y="382905"/>
            <a:ext cx="4927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Windows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电脑与</a:t>
            </a:r>
            <a:r>
              <a:rPr lang="en-US" altLang="zh-CN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MacOS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  <a:latin typeface="宋体" charset="0"/>
                <a:ea typeface="宋体" charset="0"/>
                <a:cs typeface="宋体" charset="0"/>
              </a:rPr>
              <a:t>电脑均已通过检查</a:t>
            </a:r>
            <a:endParaRPr lang="zh-CN" altLang="en-US">
              <a:solidFill>
                <a:schemeClr val="accent2">
                  <a:lumMod val="50000"/>
                </a:schemeClr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72050" cy="68592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DCCFB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-4445" y="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2:28-d2sggj61bb2p4onboku0.jpe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2666365" y="-2670810"/>
            <a:ext cx="6858000" cy="1219962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1:32:29-d2sggje1bb2p4onbokv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070" y="2828925"/>
            <a:ext cx="12244070" cy="440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73365" y="1664335"/>
            <a:ext cx="118046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5E42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593090" y="6446520"/>
            <a:ext cx="743775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8968740" y="6446520"/>
            <a:ext cx="2650490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6865620" y="3195320"/>
            <a:ext cx="497141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项目演示</a:t>
            </a:r>
            <a:r>
              <a:rPr lang="zh-CN" altLang="en-US" sz="2800" b="1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视频</a:t>
            </a:r>
            <a:endParaRPr lang="zh-CN" altLang="en-US" sz="2800" b="1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1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110" y="6354445"/>
            <a:ext cx="372110" cy="21971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1:32:29-d2sggje1bb2p4onbok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0000">
            <a:off x="6750685" y="3161665"/>
            <a:ext cx="349250" cy="366395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09-04-11:32:29-d2sggje1bb2p4onbol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" y="0"/>
            <a:ext cx="4352290" cy="5608320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9-04-11:32:29-d2sggje1bb2p4onbol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85" y="3105150"/>
            <a:ext cx="2583180" cy="1724025"/>
          </a:xfrm>
          <a:prstGeom prst="rect">
            <a:avLst/>
          </a:prstGeom>
        </p:spPr>
      </p:pic>
      <p:pic>
        <p:nvPicPr>
          <p:cNvPr id="15" name="Image 7" descr="https://kimi-img.moonshot.cn/pub/slides/slides_tmpl/image/25-09-04-11:32:29-d2sggje1bb2p4onbokv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270" y="538480"/>
            <a:ext cx="1331595" cy="5035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32-d2sggk61bb2p4onbol4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-10436" y="-635"/>
            <a:ext cx="12192000" cy="6844030"/>
          </a:xfrm>
          <a:prstGeom prst="rect">
            <a:avLst/>
          </a:prstGeom>
          <a:gradFill flip="none" rotWithShape="1">
            <a:gsLst>
              <a:gs pos="0">
                <a:srgbClr val="EBE7E2">
                  <a:alpha val="33000"/>
                </a:srgbClr>
              </a:gs>
              <a:gs pos="100000">
                <a:srgbClr val="BDA08D">
                  <a:alpha val="24000"/>
                </a:srgbClr>
              </a:gs>
            </a:gsLst>
            <a:lin ang="54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 rot="10800000">
            <a:off x="-4445" y="0"/>
            <a:ext cx="12192000" cy="6844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628015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2142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7462520" y="6446520"/>
            <a:ext cx="4191635" cy="0"/>
          </a:xfrm>
          <a:prstGeom prst="line">
            <a:avLst/>
          </a:prstGeom>
          <a:noFill/>
          <a:ln w="16510">
            <a:gradFill flip="none" rotWithShape="1"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07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https://kimi-img.moonshot.cn/pub/slides/slides_tmpl/image/25-09-04-11:32:29-d2sggje1bb2p4onbol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6354445"/>
            <a:ext cx="372110" cy="21971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27380" y="4147820"/>
            <a:ext cx="3269615" cy="26955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19"/>
          <p:cNvSpPr/>
          <p:nvPr/>
        </p:nvSpPr>
        <p:spPr>
          <a:xfrm>
            <a:off x="8384540" y="2955290"/>
            <a:ext cx="3300730" cy="26974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7380" y="477078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5E4230"/>
                </a:solidFill>
                <a:latin typeface="MiSans" pitchFamily="34" charset="0"/>
                <a:ea typeface="MiSans" pitchFamily="34" charset="-122"/>
                <a:cs typeface="MiSans" pitchFamily="34" charset="-120"/>
                <a:hlinkClick r:id="rId3" action="ppaction://hlinkfile"/>
              </a:rPr>
              <a:t>演示视频</a:t>
            </a:r>
            <a:endParaRPr lang="zh-CN" altLang="en-US" sz="4400" dirty="0">
              <a:solidFill>
                <a:srgbClr val="5E423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2970" y="1603375"/>
            <a:ext cx="6172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演示视频已</a:t>
            </a:r>
            <a:r>
              <a:rPr lang="zh-CN" altLang="en-US"/>
              <a:t>和</a:t>
            </a:r>
            <a:r>
              <a:rPr lang="en-US" altLang="zh-CN"/>
              <a:t>ppt</a:t>
            </a:r>
            <a:r>
              <a:rPr lang="zh-CN" altLang="en-US"/>
              <a:t>一起提交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2:29-d2sggje1bb2p4onbol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"/>
            <a:ext cx="12192000" cy="68541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5245" y="2311400"/>
            <a:ext cx="12250420" cy="15938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7355" y="5853430"/>
            <a:ext cx="3867150" cy="3301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 err="1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汇报人</a:t>
            </a:r>
            <a:r>
              <a:rPr lang="en-US" sz="1400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：</a:t>
            </a:r>
            <a:r>
              <a:rPr lang="zh-CN" altLang="en-US" sz="1400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何其乐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7355" y="6123305"/>
            <a:ext cx="5014595" cy="3301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汇报时间</a:t>
            </a:r>
            <a:r>
              <a:rPr lang="en-US" sz="1400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：2025/10/22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1:32:28-d2sggj61bb2p4onbok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655" y="269875"/>
            <a:ext cx="1450975" cy="207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-45085" y="3752850"/>
            <a:ext cx="122288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感谢您的</a:t>
            </a:r>
            <a:r>
              <a:rPr lang="zh-CN" altLang="en-US" sz="3600" dirty="0">
                <a:solidFill>
                  <a:srgbClr val="5E4230"/>
                </a:solidFill>
                <a:latin typeface="MS PMincho" pitchFamily="34" charset="0"/>
                <a:ea typeface="MS PMincho" pitchFamily="34" charset="-122"/>
                <a:cs typeface="MS PMincho" pitchFamily="34" charset="-120"/>
              </a:rPr>
              <a:t>聆听</a:t>
            </a:r>
            <a:endParaRPr lang="zh-CN" altLang="en-US" sz="3600" dirty="0">
              <a:solidFill>
                <a:srgbClr val="5E4230"/>
              </a:solidFill>
              <a:latin typeface="MS PMincho" pitchFamily="34" charset="0"/>
              <a:ea typeface="MS PMincho" pitchFamily="34" charset="-122"/>
              <a:cs typeface="MS PMincho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413000" y="2131060"/>
            <a:ext cx="775335" cy="775335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gradFill flip="none" rotWithShape="1">
              <a:gsLst>
                <a:gs pos="0">
                  <a:srgbClr val="C00000">
                    <a:alpha val="0"/>
                  </a:srgbClr>
                </a:gs>
                <a:gs pos="1500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1386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2413000" y="2131060"/>
            <a:ext cx="775335" cy="7753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resource_record_key" val="{&quot;13&quot;:[4532414]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2665</Words>
  <Application>WPS 演示</Application>
  <PresentationFormat>宽屏</PresentationFormat>
  <Paragraphs>213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Arial</vt:lpstr>
      <vt:lpstr>宋体</vt:lpstr>
      <vt:lpstr>Wingdings</vt:lpstr>
      <vt:lpstr>MiSans</vt:lpstr>
      <vt:lpstr>苹方-简</vt:lpstr>
      <vt:lpstr>MiSans</vt:lpstr>
      <vt:lpstr>MiSans</vt:lpstr>
      <vt:lpstr>思源宋体</vt:lpstr>
      <vt:lpstr>汉仪书宋二KW</vt:lpstr>
      <vt:lpstr>思源宋体</vt:lpstr>
      <vt:lpstr>思源宋体</vt:lpstr>
      <vt:lpstr>宋体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MS PMincho</vt:lpstr>
      <vt:lpstr>MS PMincho</vt:lpstr>
      <vt:lpstr>MS PMincho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古文智标：从功能到迭代的落地之路</dc:title>
  <dc:creator>Kimi</dc:creator>
  <dc:subject>古文智标：从功能到迭代的落地之路</dc:subject>
  <cp:lastModifiedBy>qlhe</cp:lastModifiedBy>
  <cp:revision>65</cp:revision>
  <dcterms:created xsi:type="dcterms:W3CDTF">2025-10-22T09:19:48Z</dcterms:created>
  <dcterms:modified xsi:type="dcterms:W3CDTF">2025-10-22T09:19:48Z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{"Label":"古文智标：从功能到迭代的落地之路","ContentProducer":"001191110108MACG2KBH8F10000","ProduceID":"d3r265ccoua2iuv0bv20","ReservedCode1":"","ContentPropagator":"001191110108MACG2KBH8F20000","PropagateID":"d3r265ccoua2iuv0bv20","ReservedCode2":""}</vt:lpwstr>
  </property>
  <property fmtid="{D5CDD505-2E9C-101B-9397-08002B2CF9AE}" pid="3" name="ICV">
    <vt:lpwstr>6371494DD4CB7F7E1F4FF8686EA9641A_43</vt:lpwstr>
  </property>
  <property fmtid="{D5CDD505-2E9C-101B-9397-08002B2CF9AE}" pid="4" name="KSOProductBuildVer">
    <vt:lpwstr>2052-7.5.1.8994</vt:lpwstr>
  </property>
</Properties>
</file>